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Products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FY 2020</c:v>
                  </c:pt>
                  <c:pt idx="1">
                    <c:v>FY 2021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245</c:v>
                </c:pt>
                <c:pt idx="1">
                  <c:v>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Notebook</c:v>
                  </c:pt>
                  <c:pt idx="1">
                    <c:v>Accessories</c:v>
                  </c:pt>
                  <c:pt idx="2">
                    <c:v>Peripherals</c:v>
                  </c:pt>
                  <c:pt idx="3">
                    <c:v>Desktop</c:v>
                  </c:pt>
                  <c:pt idx="4">
                    <c:v>Storage</c:v>
                  </c:pt>
                  <c:pt idx="5">
                    <c:v>Networking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</c:v>
                </c:pt>
                <c:pt idx="1">
                  <c:v>116</c:v>
                </c:pt>
                <c:pt idx="2">
                  <c:v>84</c:v>
                </c:pt>
                <c:pt idx="3">
                  <c:v>32</c:v>
                </c:pt>
                <c:pt idx="4">
                  <c:v>27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2020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Accessories</c:v>
                  </c:pt>
                  <c:pt idx="1">
                    <c:v>Notebook</c:v>
                  </c:pt>
                  <c:pt idx="2">
                    <c:v>Peripherals</c:v>
                  </c:pt>
                  <c:pt idx="3">
                    <c:v>Desktop</c:v>
                  </c:pt>
                  <c:pt idx="4">
                    <c:v>Storage</c:v>
                  </c:pt>
                  <c:pt idx="5">
                    <c:v>Networking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</c:v>
                </c:pt>
                <c:pt idx="1">
                  <c:v>92</c:v>
                </c:pt>
                <c:pt idx="2">
                  <c:v>59</c:v>
                </c:pt>
                <c:pt idx="3">
                  <c:v>7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Accessories</c:v>
                  </c:pt>
                  <c:pt idx="1">
                    <c:v>Notebook</c:v>
                  </c:pt>
                  <c:pt idx="2">
                    <c:v>Peripherals</c:v>
                  </c:pt>
                  <c:pt idx="3">
                    <c:v>Desktop</c:v>
                  </c:pt>
                  <c:pt idx="4">
                    <c:v>Storage</c:v>
                  </c:pt>
                  <c:pt idx="5">
                    <c:v>Networking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103</c:v>
                </c:pt>
                <c:pt idx="1">
                  <c:v>108</c:v>
                </c:pt>
                <c:pt idx="2">
                  <c:v>75</c:v>
                </c:pt>
                <c:pt idx="3">
                  <c:v>22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Flipkart</c:v>
                  </c:pt>
                  <c:pt idx="1">
                    <c:v>Viveks</c:v>
                  </c:pt>
                  <c:pt idx="2">
                    <c:v>Ezone</c:v>
                  </c:pt>
                  <c:pt idx="3">
                    <c:v>Croma</c:v>
                  </c:pt>
                  <c:pt idx="4">
                    <c:v>Amazon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30.83</c:v>
                </c:pt>
                <c:pt idx="1">
                  <c:v>30.38</c:v>
                </c:pt>
                <c:pt idx="2">
                  <c:v>30.28</c:v>
                </c:pt>
                <c:pt idx="3">
                  <c:v>30.25</c:v>
                </c:pt>
                <c:pt idx="4">
                  <c:v>29.33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2020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9168</c:v>
                </c:pt>
                <c:pt idx="1">
                  <c:v>10378</c:v>
                </c:pt>
                <c:pt idx="2">
                  <c:v>15231</c:v>
                </c:pt>
                <c:pt idx="3">
                  <c:v>11032</c:v>
                </c:pt>
                <c:pt idx="4">
                  <c:v>7904</c:v>
                </c:pt>
                <c:pt idx="5">
                  <c:v>6983</c:v>
                </c:pt>
                <c:pt idx="6">
                  <c:v>9854</c:v>
                </c:pt>
                <c:pt idx="7">
                  <c:v>7614</c:v>
                </c:pt>
                <c:pt idx="8">
                  <c:v>1586</c:v>
                </c:pt>
                <c:pt idx="9">
                  <c:v>3374</c:v>
                </c:pt>
                <c:pt idx="10">
                  <c:v>5151</c:v>
                </c:pt>
                <c:pt idx="11">
                  <c:v>7009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2021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  <c:pt idx="7">
                    <c:v>Apr</c:v>
                  </c:pt>
                  <c:pt idx="8">
                    <c:v>May</c:v>
                  </c:pt>
                  <c:pt idx="9">
                    <c:v>Jun</c:v>
                  </c:pt>
                  <c:pt idx="10">
                    <c:v>Jul</c:v>
                  </c:pt>
                  <c:pt idx="11">
                    <c:v>Aug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19530</c:v>
                </c:pt>
                <c:pt idx="1">
                  <c:v>21017</c:v>
                </c:pt>
                <c:pt idx="2">
                  <c:v>32247</c:v>
                </c:pt>
                <c:pt idx="3">
                  <c:v>20409</c:v>
                </c:pt>
                <c:pt idx="4">
                  <c:v>19571</c:v>
                </c:pt>
                <c:pt idx="5">
                  <c:v>15987</c:v>
                </c:pt>
                <c:pt idx="6">
                  <c:v>19154</c:v>
                </c:pt>
                <c:pt idx="7">
                  <c:v>11483</c:v>
                </c:pt>
                <c:pt idx="8">
                  <c:v>19204</c:v>
                </c:pt>
                <c:pt idx="9">
                  <c:v>15505</c:v>
                </c:pt>
                <c:pt idx="10">
                  <c:v>19149</c:v>
                </c:pt>
                <c:pt idx="11">
                  <c:v>13417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Sold Qty (M)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20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3A5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7.01</c:v>
                </c:pt>
                <c:pt idx="1">
                  <c:v>6.65</c:v>
                </c:pt>
                <c:pt idx="2">
                  <c:v>2.08</c:v>
                </c:pt>
                <c:pt idx="3">
                  <c:v>5.04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A3A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1924.17</c:v>
                </c:pt>
                <c:pt idx="1">
                  <c:v>406.69</c:v>
                </c:pt>
                <c:pt idx="2">
                  <c:v>297.18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9144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200400"/>
            <a:ext cx="1371600" cy="1371600"/>
          </a:xfrm>
          <a:prstGeom prst="ellipse">
            <a:avLst/>
          </a:prstGeom>
          <a:solidFill>
            <a:srgbClr val="1DB9A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3657600"/>
            <a:ext cx="731520" cy="731520"/>
          </a:xfrm>
          <a:prstGeom prst="ellipse">
            <a:avLst/>
          </a:prstGeom>
          <a:solidFill>
            <a:srgbClr val="1DB9AA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B9AA"/>
                </a:solidFill>
              </a:rPr>
              <a:t>CODEBASICS SQL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DB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Ad_Hoc Insights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EC5"/>
                </a:solidFill>
              </a:rPr>
              <a:t>AtliQ Hardwares — Business Intelligence Analysis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3474720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91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A4AE"/>
                </a:solidFill>
              </a:rPr>
              <a:t>10 Ad-Hoc Requests  </a:t>
            </a:r>
            <a:pPr indent="0" marL="0">
              <a:buNone/>
            </a:pPr>
            <a:r>
              <a:rPr lang="en-US" sz="1300" dirty="0">
                <a:solidFill>
                  <a:srgbClr val="1DB9AA"/>
                </a:solidFill>
              </a:rPr>
              <a:t> | 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  MySQL Analysis  </a:t>
            </a:r>
            <a:pPr indent="0" marL="0">
              <a:buNone/>
            </a:pPr>
            <a:r>
              <a:rPr lang="en-US" sz="1300" dirty="0">
                <a:solidFill>
                  <a:srgbClr val="1DB9AA"/>
                </a:solidFill>
              </a:rPr>
              <a:t> | 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  FY 2020–2021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Insights for Top-Level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of 'Atliq Exclusive' in APAC Region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market FROM dim_customer WHERE customer = 'Atliq Exclusive' AND region = 'APAC'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list of markets in which customer "Atliq Exclusive" operates its business in the APAC region.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73936"/>
            <a:ext cx="4023360" cy="1261872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73936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8366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Q1: Markets of Atliq Exclusive in APAC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market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dim_customer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 = 'Atliq Exclusive'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region = 'APAC';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62272" y="1801368"/>
            <a:ext cx="1042416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62272" y="1801368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1801368"/>
            <a:ext cx="1042416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801368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Indonesia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93408" y="1801368"/>
            <a:ext cx="1042416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93408" y="1801368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Japan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08976" y="1801368"/>
            <a:ext cx="1042416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08976" y="1801368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Philippines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62272" y="2368296"/>
            <a:ext cx="1042416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62272" y="236829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South Korea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2368296"/>
            <a:ext cx="1042416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236829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Australia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93408" y="2368296"/>
            <a:ext cx="1042416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93408" y="236829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New Zealand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808976" y="2368296"/>
            <a:ext cx="1042416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08976" y="236829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Bangladesh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116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3383280"/>
            <a:ext cx="8732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0896" y="3383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Atliq Exclusive operates in 8 distinct markets across the APAC region.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" y="3703320"/>
            <a:ext cx="8732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0896" y="3703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Strong presence across South Asia, Southeast Asia &amp; Oceania sub-regions.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4023360"/>
            <a:ext cx="8732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10896" y="4023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India likely anchors revenue — prime focus for data-driven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 Increase: 2020 vs 2021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to COUNT DISTINCT product_code per fiscal year → ROUND % change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What is the percentage of unique product increase in 2021 vs. 2020? Fields: unique_products_2020, unique_products_2021, percentage_chg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1938528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Q2: Unique product % growth using CTEs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cte1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COUNT(DISTINCT product_code) AS unique_products_2020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 WHERE fiscal_year = '2020'),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cte2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COUNT(DISTINCT product_code) AS unique_products_2021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fact_sales_monthly WHERE fiscal_year = '2021')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unique_products_2020, unique_products_2021,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ROUND((unique_products_2021 - unique_products_2020)*100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unique_products_2020, 2) AS percentage_chg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cte1 JOIN cte2;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55648"/>
            <a:ext cx="1481328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55648"/>
            <a:ext cx="73152" cy="9144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144" y="18105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245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81144" y="2267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FY 2020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81144" y="2468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Unique Products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07608" y="1755648"/>
            <a:ext cx="1481328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07608" y="1755648"/>
            <a:ext cx="73152" cy="9144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18105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334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53912" y="2267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FY 2021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3912" y="2468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Unique Products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0376" y="1755648"/>
            <a:ext cx="1481328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0376" y="1755648"/>
            <a:ext cx="73152" cy="9144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8105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36.33%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26680" y="2267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F3D0"/>
                </a:solidFill>
              </a:rPr>
              <a:t>Growth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26680" y="2468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YoY Change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2724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B9AA"/>
                </a:solidFill>
              </a:rPr>
              <a:t>▼</a:t>
            </a:r>
            <a:endParaRPr lang="en-US" sz="13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434840" y="3017520"/>
          <a:ext cx="4462272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201168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01168" y="4023360"/>
            <a:ext cx="4160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10896" y="4023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Products grew 36.33% from 245 → 334, showing aggressive portfolio expansion.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" y="4334256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10896" y="4334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Consistent YoY growth signals strong R&amp;D and new product development focus.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01168" y="4645152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10896" y="4645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Management should sustain investment to maintain this competitive edge.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 Count per Segment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segment → COUNT DISTINCT product_code → ORDER BY product_count DESC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Provide a report with all the unique product counts for each segment, sorted in descending order of product counts.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1207008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Q3: Product count per segment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segment,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product_code) AS product_count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dim_product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segment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product_count DESC;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55648"/>
            <a:ext cx="4462272" cy="120700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55648"/>
            <a:ext cx="73152" cy="1207008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013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B9AA"/>
                </a:solidFill>
              </a:rPr>
              <a:t>Segment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8013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B9AA"/>
                </a:solidFill>
              </a:rPr>
              <a:t>Count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95681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Notebook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129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1122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Accessories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21122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116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22677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Peripherals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22677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84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24231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Desktop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4231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32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257860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25786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273405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8"/>
                </a:solidFill>
              </a:rPr>
              <a:t>Networking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273405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23360" y="2148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201168" y="3035808"/>
          <a:ext cx="8732520" cy="17922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201168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01168" y="498348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 Notebook &amp; Accessories lead with 129 &amp; 116 products — together ~62% of total.   2. Networking (9) is the smallest — niche focus or underinvested segment.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with Most Unique Product Increase (2021 vs 2020)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CTEs JOIN on segment → compute difference → ORDER BY Difference DESC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Which segment had the most increase in unique products in 2021 vs 2020? Fields: segment, product_count_2020, product_count_2021, difference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2487168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Q4: Segment growth using two CTEs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cte1 AS (SELECT p.segment,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p.product_code) AS product_count_2020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dim_product p JOIN fact_sales_monthly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USING(product_code) WHERE s.fiscal_year='2020'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p.segment),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cte2 AS (SELECT p.segment,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p.product_code) AS product_count_2021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dim_product p JOIN fact_sales_monthly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USING(product_code) WHERE s.fiscal_year='2021'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p.segment)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cte1.segment, product_count_2020,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product_count_2021,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(product_count_2021 - product_count_2020) AS Difference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cte1 JOIN cte2 ON cte1.segment=cte2.segment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Difference DESC;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55648"/>
            <a:ext cx="4462272" cy="1143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55648"/>
            <a:ext cx="73152" cy="11430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0136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B9AA"/>
                </a:solidFill>
              </a:rPr>
              <a:t>Segment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0" y="1801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B9AA"/>
                </a:solidFill>
              </a:rPr>
              <a:t>2020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75120" y="180136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B9AA"/>
                </a:solidFill>
              </a:rPr>
              <a:t>2021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01000" y="180136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B9AA"/>
                </a:solidFill>
              </a:rPr>
              <a:t>Diff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17720" y="195224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Accessories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0" y="195224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69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0" y="195224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103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001000" y="195224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+34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17720" y="210312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Notebook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210312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92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108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01000" y="21031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+16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17720" y="225399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Peripherals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2253996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59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2253996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75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01000" y="225399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+16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24048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Desktop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0" y="2404872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7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75120" y="2404872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22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240487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+15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17720" y="2555748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Storage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0" y="255574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12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2555748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17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01000" y="2555748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+5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17720" y="2706624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Networking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27066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75120" y="2706624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0F9F8"/>
                </a:solidFill>
              </a:rPr>
              <a:t>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01000" y="270662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+3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0" y="26334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4434840" y="2971800"/>
          <a:ext cx="4462272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01168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201168" y="4572000"/>
            <a:ext cx="4160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310896" y="4572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Accessories had the highest growth (+34) — fastest expanding segment in FY2021.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201168" y="4754880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310896" y="4754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Desktop leaped from 7 → 22 (+15) showing renewed management focus on PCs.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201168" y="4937760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310896" y="4937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Networking grew least (+3) — consider strategic review for this segment.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Highest &amp; Lowest Manufacturing Cost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Subqueries: WHERE cost = MAX(cost) OR cost = MIN(cost)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Get the products that have the highest and lowest manufacturing costs. Fields: product_code, product, manufacturing_cost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1993392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Q5: Highest &amp; Lowest manufacturing cost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p.product_code, p.product,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m.manufacturing_cost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dim_product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fact_manufacturing_cost 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p.product_code = m.product_code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m.manufacturing_cost =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MAX(manufacturing_cost)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fact_manufacturing_cost)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m.manufacturing_cost =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MIN(manufacturing_cost)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fact_manufacturing_cost);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55648"/>
            <a:ext cx="44622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55648"/>
            <a:ext cx="4462272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801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HIGHEST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AQ HOME Allin1 Gen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432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Code: A6120110206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13969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$240.54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434840" y="2834640"/>
            <a:ext cx="446227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2834640"/>
            <a:ext cx="4462272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880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 LOWEST COST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AQ Master wired x1 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3511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Code: A2118150101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321868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$0.89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434840" y="3840480"/>
            <a:ext cx="4462272" cy="3840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3840480"/>
            <a:ext cx="73152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590288" y="38679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💡  Cost Ratio: Highest product is ~270× more expensive than the Lowest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1168" y="4096512"/>
            <a:ext cx="4160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10896" y="40965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AQ HOME Allin1 Gen 2 (Desktop) is most expensive to manufacture at $240.54.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" y="4407408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AQ Master wired x1 Ms (Mouse) is cheapest at $0.89 — high margin potential.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4718304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10896" y="4718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270× cost gap highlights AtliQ's wide portfolio from accessories to all-in-ones.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Pre-Invoice Discount % — India FY2021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AVG(pre_invoice_discount_pct) &gt; overall AVG → GROUP BY customer → LIMIT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Generate a report of top 5 customers who received the highest average pre_invoice_discount_pct for FY 2021 in the Indian market.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2011680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Q6: Top 5 discount customers, India FY2021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c.customer_code, c.customer,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AVG(p.pre_invoice_discount_pct) AS average_discount_percentage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fact_pre_invoice_deductions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dim_customer c ON c.customer_code = p.customer_code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p.pre_invoice_discount_pct &gt;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AVG(pre_invoice_discount_pct)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fact_pre_invoice_deductions)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fiscal_year = 2021 AND c.market = 'INDIA'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c.customer_code, c.customer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average_discount_percentage DESC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4462272" cy="34747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8848" y="18105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379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Flipkart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0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30.83%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2743200" cy="36576"/>
          </a:xfrm>
          <a:prstGeom prst="rect">
            <a:avLst/>
          </a:prstGeom>
          <a:solidFill>
            <a:srgbClr val="1A4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075688"/>
            <a:ext cx="1552651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2194560"/>
            <a:ext cx="4462272" cy="3474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98848" y="2231136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4498848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258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Viveks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2494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30.38%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2496312"/>
            <a:ext cx="2743200" cy="36576"/>
          </a:xfrm>
          <a:prstGeom prst="rect">
            <a:avLst/>
          </a:prstGeom>
          <a:solidFill>
            <a:srgbClr val="1A4A44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2496312"/>
            <a:ext cx="1305763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29" name="Shape 27"/>
          <p:cNvSpPr/>
          <p:nvPr/>
        </p:nvSpPr>
        <p:spPr>
          <a:xfrm>
            <a:off x="4434840" y="2615184"/>
            <a:ext cx="4462272" cy="3474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2651760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679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Ezone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2670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30.28%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2916936"/>
            <a:ext cx="2743200" cy="36576"/>
          </a:xfrm>
          <a:prstGeom prst="rect">
            <a:avLst/>
          </a:prstGeom>
          <a:solidFill>
            <a:srgbClr val="1A4A44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916936"/>
            <a:ext cx="1250899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6" name="Shape 34"/>
          <p:cNvSpPr/>
          <p:nvPr/>
        </p:nvSpPr>
        <p:spPr>
          <a:xfrm>
            <a:off x="4434840" y="3035808"/>
            <a:ext cx="4462272" cy="3474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98848" y="3072384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8" name="Text 36"/>
          <p:cNvSpPr/>
          <p:nvPr/>
        </p:nvSpPr>
        <p:spPr>
          <a:xfrm>
            <a:off x="4498848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099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Croma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89520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30.25%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3337560"/>
            <a:ext cx="2743200" cy="36576"/>
          </a:xfrm>
          <a:prstGeom prst="rect">
            <a:avLst/>
          </a:prstGeom>
          <a:solidFill>
            <a:srgbClr val="1A4A44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3337560"/>
            <a:ext cx="1234440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43" name="Shape 41"/>
          <p:cNvSpPr/>
          <p:nvPr/>
        </p:nvSpPr>
        <p:spPr>
          <a:xfrm>
            <a:off x="4434840" y="3456432"/>
            <a:ext cx="4462272" cy="34747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98848" y="3493008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5" name="Text 43"/>
          <p:cNvSpPr/>
          <p:nvPr/>
        </p:nvSpPr>
        <p:spPr>
          <a:xfrm>
            <a:off x="4498848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Amazon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589520" y="3511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29.33%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846320" y="3758184"/>
            <a:ext cx="2743200" cy="36576"/>
          </a:xfrm>
          <a:prstGeom prst="rect">
            <a:avLst/>
          </a:prstGeom>
          <a:solidFill>
            <a:srgbClr val="1A4A44"/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3758184"/>
            <a:ext cx="729691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50" name="Text 48"/>
          <p:cNvSpPr/>
          <p:nvPr/>
        </p:nvSpPr>
        <p:spPr>
          <a:xfrm>
            <a:off x="402336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201168" y="3858768"/>
          <a:ext cx="416052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Text 49"/>
          <p:cNvSpPr/>
          <p:nvPr/>
        </p:nvSpPr>
        <p:spPr>
          <a:xfrm>
            <a:off x="4434840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434840" y="4224528"/>
            <a:ext cx="4462272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4544568" y="4224528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Flipkart leads at 30.83% — highest pre-invoice discount in India FY2021.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434840" y="4535424"/>
            <a:ext cx="4462272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4544568" y="453542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All top 5 receive above-average discounts (29–31%), reflecting key partnerships.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Amount for 'Atliq Exclusive' — Monthly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SUM(gross_price × sold_quantity) → GROUP BY MONTH/YEAR → Trend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Get the complete report of Gross sales amount for 'Atliq Exclusive' for each month to identify low and high-performing months.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1828800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Q7: Monthly gross sales for Atliq Exclusive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MONTHNAME(s.date) AS 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YEAR(s.date) AS Year,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ROUND(SUM(g.gross_price * s.sold_quantity),2)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AS Gross_sales_amount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fact_gross_price g ON s.product_code = g.product_code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dim_customer c ON s.customer_code = c.customer_code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c.customer = 'Atliq Exclusive'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MONTH(s.date), YEAR(s.date);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55648"/>
            <a:ext cx="4462272" cy="98755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55648"/>
            <a:ext cx="73152" cy="987552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8013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AA"/>
                </a:solidFill>
              </a:rPr>
              <a:t>Month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61888" y="180136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B9AA"/>
                </a:solidFill>
              </a:rPr>
              <a:t>Year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01968" y="180136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DB9AA"/>
                </a:solidFill>
              </a:rPr>
              <a:t>Gross Sales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90288" y="193852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November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61888" y="193852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2021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01968" y="193852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$32.25M (Peak)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90288" y="207568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October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61888" y="2075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2021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01968" y="207568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$21.02M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90288" y="221284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September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61888" y="22128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2021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01968" y="221284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$19.53M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90288" y="235000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March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61888" y="235000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2020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01968" y="235000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$1.59M (Low)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90288" y="248716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9F8"/>
                </a:solidFill>
              </a:rPr>
              <a:t>... 12 months × 2 years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61888" y="248716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01968" y="2487168"/>
            <a:ext cx="2212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2336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201168" y="2788920"/>
          <a:ext cx="8732520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/>
          <p:nvPr/>
        </p:nvSpPr>
        <p:spPr>
          <a:xfrm>
            <a:off x="201168" y="4864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01168" y="4992624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 November is the peak month (festive season) — $32.25M in FY2021.   2. FY2021 consistently ~2× FY2020.   3. Mar–May 2020 dip = COVID impact.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with Maximum Total Sold Quantity in FY 2020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MONTH(date) IN (...) THEN 'Q1' ... → GROUP BY Quarter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 which quarter of 2020 did AtliQ get the maximum total_sold_quantity? Fields: Quarter, total_sold_quantity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2331720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Q8: Quarter with max sold qty in FY2020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MONTH(s.date) IN (9,10,11) THEN 'Q1'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MONTH(s.date) IN (12,1,2)  THEN 'Q2'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MONTH(s.date) IN (3,4,5)   THEN 'Q3'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MONTH(s.date) IN (6,7,8)   THEN 'Q4'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Quarter,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CONCAT(FORMAT(SUM(sold_quantity)/1000000,2),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 M') AS Total_sold_quantity_mln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s.fiscal_year = '2020'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Quarter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Total_sold_quantity_mln DESC;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62272" y="1773936"/>
            <a:ext cx="1042416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80136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62272" y="22402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62272" y="2606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DD"/>
                </a:solidFill>
              </a:rPr>
              <a:t>Sep–Nov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62272" y="2834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7.01M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1773936"/>
            <a:ext cx="1042416" cy="13716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22402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606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DD"/>
                </a:solidFill>
              </a:rPr>
              <a:t>Dec–Feb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2834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6.65M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93408" y="1773936"/>
            <a:ext cx="1042416" cy="13716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22402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93408" y="2606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DD"/>
                </a:solidFill>
              </a:rPr>
              <a:t>Jun–Aug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93408" y="2834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5.04M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08976" y="1773936"/>
            <a:ext cx="1042416" cy="1371600"/>
          </a:xfrm>
          <a:prstGeom prst="rect">
            <a:avLst/>
          </a:prstGeom>
          <a:solidFill>
            <a:srgbClr val="8B202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08976" y="224028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808976" y="260604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DDDD"/>
                </a:solidFill>
              </a:rPr>
              <a:t>Mar–May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08976" y="28346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2.08M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2336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201168" y="3310128"/>
          <a:ext cx="416052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44348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434840" y="3566160"/>
            <a:ext cx="4462272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544568" y="356616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Q1 (Sep–Nov) peaked at 7.01M — festive demand drives highest sales.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434840" y="3913632"/>
            <a:ext cx="4462272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544568" y="3913632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Q3 (Mar–May) bottomed at 2.08M — COVID-19 lockdown severely impacted.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434840" y="4261104"/>
            <a:ext cx="4462272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544568" y="426110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H1 (Q1+Q2 = 13.66M) = 64% of annual volume — front-load your inventory.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Gross Sales Contribution in FY 2021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Window Function: SUM() OVER() for percentage contribution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Which channel helped to bring more gross sales in FY 2021 and what is the percentage of contribution? Fields: channel, gross_sales_mln, percentage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2176272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Q9: Channel % contribution FY2021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c.channel,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ROUND(SUM(g.gross_price * s.sold_quantity)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 1000000, 2) AS gross_sales_mln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dim_customer 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fact_sales_monthly s ON c.customer_code = s.customer_code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fact_gross_price g ON s.product_code = g.product_code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s.fiscal_year = 2021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c.channel)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channel, gross_sales_mln,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ROUND(gross_sales_mln * 100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SUM(gross_sales_mln) OVER(), 2) AS percentage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73936"/>
            <a:ext cx="44622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73936"/>
            <a:ext cx="9144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Retailer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1762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$1924.17M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19110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73.22%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434840" y="2596896"/>
            <a:ext cx="44622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2596896"/>
            <a:ext cx="9144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Direct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2999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$406.69M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734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15.47%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434840" y="3419856"/>
            <a:ext cx="4462272" cy="7132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419856"/>
            <a:ext cx="91440" cy="7132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Distributor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</a:rPr>
              <a:t>$297.18M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35570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11.31%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23360" y="2834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9AA"/>
                </a:solidFill>
              </a:rPr>
              <a:t>→</a:t>
            </a:r>
            <a:endParaRPr lang="en-US" sz="2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201168" y="1755648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201168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01168" y="4443984"/>
            <a:ext cx="8732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10896" y="44439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Retailer channel dominates with 73.22% of FY2021 gross sales ($1924M).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" y="4663440"/>
            <a:ext cx="8732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10896" y="4663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Direct sales at 15.47% — strong growth opportunity with direct-to-consumer.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01168" y="4882896"/>
            <a:ext cx="8732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10896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Distributor at 11.31% — review channel efficiency and partnership value.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4008"/>
            <a:ext cx="685800" cy="685800"/>
          </a:xfrm>
          <a:prstGeom prst="ellipse">
            <a:avLst/>
          </a:prstGeom>
          <a:solidFill>
            <a:srgbClr val="1DB9AA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7315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Division by Sold Quantity (FY 2021)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512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division ORDER BY SUM(sold_quantity) DESC)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" y="117043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Get the Top 3 products in each division that have a high total_sold_quantity in FY 2021. Fields: division, product_code, product, total_sold_quantity, rank_order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755648"/>
            <a:ext cx="4023360" cy="2395728"/>
          </a:xfrm>
          <a:prstGeom prst="rect">
            <a:avLst/>
          </a:prstGeom>
          <a:solidFill>
            <a:srgbClr val="061018"/>
          </a:solidFill>
          <a:ln w="12700">
            <a:solidFill>
              <a:srgbClr val="1DB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755648"/>
            <a:ext cx="4023360" cy="54864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865376"/>
            <a:ext cx="384048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DB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Q10: Top 3 per division using RANK()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cte1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p.division, p.product_code, p.product,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SUM(s.sold_quantity) AS total_sold_quantity,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RANK() OVER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p.division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SUM(s.sold_quantity) DESC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rank_order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dim_product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fact_sales_monthly 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9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p.product_code = s.product_code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s.fiscal_year = '2021'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p.division, p.product_code, p.product)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cte1 WHERE rank_order &lt;= 3;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34840" y="1499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Visual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62272" y="1755648"/>
            <a:ext cx="143560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175564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 &amp; 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62272" y="2176272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226771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26771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Pen Drive 2 IN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64608" y="267919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701K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62272" y="3163824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325526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25526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Pen Drive DRC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64608" y="366674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688K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62272" y="4151376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24281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24281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Clx1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64608" y="465429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475K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71032" y="1755648"/>
            <a:ext cx="1435608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971032" y="175564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 &amp; 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71032" y="2176272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26771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73368" y="226771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Gamers 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73368" y="267919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428K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71032" y="3163824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25526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73368" y="325526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Maxima 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73368" y="366674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419K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71032" y="4151376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424281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3504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73368" y="424281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Master wireless x1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73368" y="465429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412K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479792" y="1755648"/>
            <a:ext cx="1435608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0" name="Text 48"/>
          <p:cNvSpPr/>
          <p:nvPr/>
        </p:nvSpPr>
        <p:spPr>
          <a:xfrm>
            <a:off x="7479792" y="175564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PC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479792" y="2176272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43800" y="2267712"/>
            <a:ext cx="292608" cy="29260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53" name="Text 51"/>
          <p:cNvSpPr/>
          <p:nvPr/>
        </p:nvSpPr>
        <p:spPr>
          <a:xfrm>
            <a:off x="754380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82128" y="226771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Digit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82128" y="2679192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17K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479792" y="3163824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543800" y="3255264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754380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82128" y="3255264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Velocity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882128" y="366674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17K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479792" y="4151376"/>
            <a:ext cx="1435608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543800" y="424281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754380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882128" y="4242816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AQ Aspiron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82128" y="465429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15K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201168" y="4251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01168" y="4498848"/>
            <a:ext cx="4160520" cy="256032"/>
          </a:xfrm>
          <a:prstGeom prst="rect">
            <a:avLst/>
          </a:prstGeom>
          <a:solidFill>
            <a:srgbClr val="1DB9A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10896" y="4498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  N&amp;S division leads in volume — AQ Pen Drive 2 IN 1 tops with 701K units.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01168" y="4700016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10896" y="4700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2.  P&amp;A accessories show strong numbers — peripherals are high-volume drivers.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01168" y="4901184"/>
            <a:ext cx="4160520" cy="256032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10896" y="490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3.  PC division lags at 15–17K units — premium segment, lower unit volumes.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200400"/>
            <a:ext cx="1371600" cy="1371600"/>
          </a:xfrm>
          <a:prstGeom prst="ellipse">
            <a:avLst/>
          </a:prstGeom>
          <a:solidFill>
            <a:srgbClr val="1DB9A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3657600"/>
            <a:ext cx="731520" cy="731520"/>
          </a:xfrm>
          <a:prstGeom prst="ellipse">
            <a:avLst/>
          </a:prstGeom>
          <a:solidFill>
            <a:srgbClr val="1DB9AA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B9AA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Insights for AtliQ Hardwares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152144"/>
            <a:ext cx="3200400" cy="36576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2588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25880"/>
            <a:ext cx="91440" cy="804672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99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AA"/>
                </a:solidFill>
              </a:rPr>
              <a:t>8 APAC Markets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746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Atliq Exclusive covers 8 markets — India anchors APAC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3990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36.33% 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7465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Product portfolio expanded 245→334 — aggressive R&amp;D strategy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91440" cy="804672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048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AA"/>
                </a:solidFill>
              </a:rPr>
              <a:t>Retailer = 73%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27523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Retailer channel drives 73% of FY2021 gross sales ($1924M)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331720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40487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November Peak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27523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November is consistently the highest revenue month — plan ahead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37560"/>
            <a:ext cx="91440" cy="804672"/>
          </a:xfrm>
          <a:prstGeom prst="rect">
            <a:avLst/>
          </a:prstGeom>
          <a:solidFill>
            <a:srgbClr val="1DB9A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10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B9AA"/>
                </a:solidFill>
              </a:rPr>
              <a:t>Accessories +34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3758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Fastest growing segment — 69→103 products in a single year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337560"/>
            <a:ext cx="4206240" cy="804672"/>
          </a:xfrm>
          <a:prstGeom prst="rect">
            <a:avLst/>
          </a:prstGeom>
          <a:solidFill>
            <a:srgbClr val="0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337560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410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270× Cost Gap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83480" y="3758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$0.89 to $240.54 — diverse portfolio with varied margin profiles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188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Thank You  •  Codebasics SQL Resume Project Challenge  •  github.com/yourusername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Goods Ad_Hoc Insights</dc:title>
  <dc:subject>PptxGenJS Presentation</dc:subject>
  <dc:creator>PptxGenJS</dc:creator>
  <cp:lastModifiedBy>PptxGenJS</cp:lastModifiedBy>
  <cp:revision>1</cp:revision>
  <dcterms:created xsi:type="dcterms:W3CDTF">2026-03-06T05:31:38Z</dcterms:created>
  <dcterms:modified xsi:type="dcterms:W3CDTF">2026-03-06T05:31:38Z</dcterms:modified>
</cp:coreProperties>
</file>